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567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051" name="Rectangle 3"/>
          <p:cNvSpPr>
            <a:spLocks noGrp="1" noChangeArrowheads="1"/>
          </p:cNvSpPr>
          <p:nvPr>
            <p:ph type="ctrTitle"/>
          </p:nvPr>
        </p:nvSpPr>
        <p:spPr>
          <a:xfrm>
            <a:off x="468313" y="1196975"/>
            <a:ext cx="8207375" cy="1082675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altLang="zh-CN" noProof="0" smtClean="0"/>
              <a:t>Click to edit Master title style</a:t>
            </a:r>
            <a:endParaRPr lang="en-US" altLang="zh-CN" noProof="0" smtClean="0"/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469900" y="2422525"/>
            <a:ext cx="8212138" cy="1752600"/>
          </a:xfrm>
        </p:spPr>
        <p:txBody>
          <a:bodyPr/>
          <a:lstStyle>
            <a:lvl1pPr marL="0" indent="0" algn="ctr">
              <a:buFontTx/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altLang="zh-CN" noProof="0" smtClean="0"/>
              <a:t>Click to edit Master subtitle style</a:t>
            </a:r>
            <a:endParaRPr lang="en-US" altLang="zh-CN" noProof="0" smtClean="0"/>
          </a:p>
        </p:txBody>
      </p:sp>
      <p:sp>
        <p:nvSpPr>
          <p:cNvPr id="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1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1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174750"/>
            <a:ext cx="4038600" cy="4953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174750"/>
            <a:ext cx="4038600" cy="4953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90500"/>
            <a:ext cx="2057400" cy="593725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90500"/>
            <a:ext cx="6019800" cy="59372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2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026" name="Picture 9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0" y="0"/>
            <a:ext cx="91567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27" name="Rectangle 3"/>
          <p:cNvSpPr>
            <a:spLocks noGrp="1"/>
          </p:cNvSpPr>
          <p:nvPr>
            <p:ph type="title"/>
          </p:nvPr>
        </p:nvSpPr>
        <p:spPr>
          <a:xfrm>
            <a:off x="457200" y="190500"/>
            <a:ext cx="8229600" cy="58261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en-US" altLang="zh-CN" dirty="0"/>
              <a:t>Click to edit Master title style</a:t>
            </a:r>
            <a:endParaRPr lang="en-US" altLang="zh-CN" dirty="0"/>
          </a:p>
        </p:txBody>
      </p:sp>
      <p:sp>
        <p:nvSpPr>
          <p:cNvPr id="1028" name="Rectangle 4"/>
          <p:cNvSpPr>
            <a:spLocks noGrp="1"/>
          </p:cNvSpPr>
          <p:nvPr>
            <p:ph type="body" idx="1"/>
          </p:nvPr>
        </p:nvSpPr>
        <p:spPr>
          <a:xfrm>
            <a:off x="457200" y="1174750"/>
            <a:ext cx="8229600" cy="49530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en-US" altLang="zh-CN" dirty="0"/>
              <a:t>Click to edit Master text styles</a:t>
            </a:r>
            <a:endParaRPr lang="en-US" altLang="zh-CN" dirty="0"/>
          </a:p>
          <a:p>
            <a:pPr lvl="1"/>
            <a:r>
              <a:rPr lang="en-US" altLang="zh-CN" dirty="0"/>
              <a:t>Second level</a:t>
            </a:r>
            <a:endParaRPr lang="en-US" altLang="zh-CN" dirty="0"/>
          </a:p>
          <a:p>
            <a:pPr lvl="2"/>
            <a:r>
              <a:rPr lang="en-US" altLang="zh-CN" dirty="0"/>
              <a:t>Third level</a:t>
            </a:r>
            <a:endParaRPr lang="en-US" altLang="zh-CN" dirty="0"/>
          </a:p>
          <a:p>
            <a:pPr lvl="3"/>
            <a:r>
              <a:rPr lang="en-US" altLang="zh-CN" dirty="0"/>
              <a:t>Fourth level</a:t>
            </a:r>
            <a:endParaRPr lang="en-US" altLang="zh-CN" dirty="0"/>
          </a:p>
          <a:p>
            <a:pPr lvl="4"/>
            <a:r>
              <a:rPr lang="en-US" altLang="zh-CN" dirty="0"/>
              <a:t>Fifth level</a:t>
            </a:r>
            <a:endParaRPr lang="en-US" altLang="zh-CN" dirty="0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400"/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103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rtl="0" fontAlgn="base">
        <a:spcBef>
          <a:spcPct val="0"/>
        </a:spcBef>
        <a:spcAft>
          <a:spcPct val="0"/>
        </a:spcAft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2pPr>
      <a:lvl3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3pPr>
      <a:lvl4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4pPr>
      <a:lvl5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India Air Quality Index (AQI)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Comprehensive Data Analytics Project | 2023-2025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F4E78"/>
                </a:solidFill>
              </a:defRPr>
            </a:pPr>
            <a:r>
              <a:t>Real-World Problem Statement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34440"/>
            <a:ext cx="8229600" cy="0"/>
          </a:xfrm>
          <a:prstGeom prst="rect">
            <a:avLst/>
          </a:prstGeom>
          <a:ln w="38100">
            <a:solidFill>
              <a:srgbClr val="1F4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000000"/>
                </a:solidFill>
              </a:defRPr>
            </a:pPr>
            <a:r>
              <a:t>• India faces significant air quality challenges affecting public health and economy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• No comprehensive understanding of geographic hotspots and temporal patterns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• Limited monitoring infrastructure in some regions reduces early-warning capability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• Need for data-driven policy decisions based on systematic analysis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• Understanding dominant pollutants and seasonal patterns for targeted intervention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F4E78"/>
                </a:solidFill>
              </a:defRPr>
            </a:pPr>
            <a:r>
              <a:t>Project Objectives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34440"/>
            <a:ext cx="8229600" cy="0"/>
          </a:xfrm>
          <a:prstGeom prst="rect">
            <a:avLst/>
          </a:prstGeom>
          <a:ln w="38100">
            <a:solidFill>
              <a:srgbClr val="1F4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000000"/>
                </a:solidFill>
              </a:defRPr>
            </a:pPr>
            <a:r>
              <a:t>→ Understand air quality status across India (2023-2025)</a:t>
            </a:r>
          </a:p>
          <a:p>
            <a:pPr>
              <a:defRPr sz="1700">
                <a:solidFill>
                  <a:srgbClr val="000000"/>
                </a:solidFill>
              </a:defRPr>
            </a:pPr>
            <a:r>
              <a:t>→ Identify geographic hotspots with persistent poor air quality</a:t>
            </a:r>
          </a:p>
          <a:p>
            <a:pPr>
              <a:defRPr sz="1700">
                <a:solidFill>
                  <a:srgbClr val="000000"/>
                </a:solidFill>
              </a:defRPr>
            </a:pPr>
            <a:r>
              <a:t>→ Assess pollutant composition and spatial/temporal variation</a:t>
            </a:r>
          </a:p>
          <a:p>
            <a:pPr>
              <a:defRPr sz="1700">
                <a:solidFill>
                  <a:srgbClr val="000000"/>
                </a:solidFill>
              </a:defRPr>
            </a:pPr>
            <a:r>
              <a:t>→ Evaluate monitoring infrastructure coverage and gaps</a:t>
            </a:r>
          </a:p>
          <a:p>
            <a:pPr>
              <a:defRPr sz="1700">
                <a:solidFill>
                  <a:srgbClr val="000000"/>
                </a:solidFill>
              </a:defRPr>
            </a:pPr>
            <a:r>
              <a:t>→ Analyze trends and seasonal patterns</a:t>
            </a:r>
          </a:p>
          <a:p>
            <a:pPr>
              <a:defRPr sz="1700">
                <a:solidFill>
                  <a:srgbClr val="000000"/>
                </a:solidFill>
              </a:defRPr>
            </a:pPr>
            <a:r>
              <a:t>→ Recommend data-driven actions for intervention and policy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F4E78"/>
                </a:solidFill>
              </a:defRPr>
            </a:pPr>
            <a:r>
              <a:t>Dataset Overview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34440"/>
            <a:ext cx="8229600" cy="0"/>
          </a:xfrm>
          <a:prstGeom prst="rect">
            <a:avLst/>
          </a:prstGeom>
          <a:ln w="38100">
            <a:solidFill>
              <a:srgbClr val="1F4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8229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000000"/>
                </a:solidFill>
              </a:defRPr>
            </a:pPr>
            <a:r>
              <a:t>• Source: Kaggle - India AQI Index Dataset (2023-2025)</a:t>
            </a:r>
          </a:p>
          <a:p>
            <a:pPr>
              <a:defRPr sz="1600">
                <a:solidFill>
                  <a:srgbClr val="000000"/>
                </a:solidFill>
              </a:defRPr>
            </a:pPr>
            <a:r>
              <a:t>• Total Observations: 235,785</a:t>
            </a:r>
          </a:p>
          <a:p>
            <a:pPr>
              <a:defRPr sz="1600">
                <a:solidFill>
                  <a:srgbClr val="000000"/>
                </a:solidFill>
              </a:defRPr>
            </a:pPr>
            <a:r>
              <a:t>• Geographic Coverage: 32 states, 291 areas</a:t>
            </a:r>
          </a:p>
          <a:p>
            <a:pPr>
              <a:defRPr sz="1600">
                <a:solidFill>
                  <a:srgbClr val="000000"/>
                </a:solidFill>
              </a:defRPr>
            </a:pPr>
            <a:r>
              <a:t>• Monitoring Stations: 441072</a:t>
            </a:r>
          </a:p>
          <a:p>
            <a:pPr>
              <a:defRPr sz="1600">
                <a:solidFill>
                  <a:srgbClr val="000000"/>
                </a:solidFill>
              </a:defRPr>
            </a:pPr>
            <a:r>
              <a:t>• Key Columns: date, state, area, aqi_value, prominent_pollutants, air_quality_status</a:t>
            </a:r>
          </a:p>
          <a:p>
            <a:pPr>
              <a:defRPr sz="1600">
                <a:solidFill>
                  <a:srgbClr val="000000"/>
                </a:solidFill>
              </a:defRPr>
            </a:pPr>
            <a:r>
              <a:t>• Time Period: 2022-04-01 to 2025-04-30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F4E78"/>
                </a:solidFill>
              </a:defRPr>
            </a:pPr>
            <a:r>
              <a:t>Data Cleaning &amp; Methodology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34440"/>
            <a:ext cx="8229600" cy="0"/>
          </a:xfrm>
          <a:prstGeom prst="rect">
            <a:avLst/>
          </a:prstGeom>
          <a:ln w="38100">
            <a:solidFill>
              <a:srgbClr val="1F4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8229600" cy="181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000000"/>
                </a:solidFill>
              </a:defRPr>
            </a:pPr>
            <a:r>
              <a:rPr sz="1600"/>
              <a:t>→ Data Cleaning: Duplicate removal, date conversion, text standardization, type conversion</a:t>
            </a:r>
            <a:endParaRPr sz="1600"/>
          </a:p>
          <a:p>
            <a:pPr>
              <a:defRPr sz="1500">
                <a:solidFill>
                  <a:srgbClr val="000000"/>
                </a:solidFill>
              </a:defRPr>
            </a:pPr>
            <a:r>
              <a:rPr sz="1600"/>
              <a:t>→ EDA: Distribution analysis, missing values, statistical summary</a:t>
            </a:r>
            <a:endParaRPr sz="1600"/>
          </a:p>
          <a:p>
            <a:pPr>
              <a:defRPr sz="1500">
                <a:solidFill>
                  <a:srgbClr val="000000"/>
                </a:solidFill>
              </a:defRPr>
            </a:pPr>
            <a:r>
              <a:rPr sz="1600"/>
              <a:t>→ KPI Calculation: Average/median/max AQI, monitoring coverage, status distribution</a:t>
            </a:r>
            <a:endParaRPr sz="1600"/>
          </a:p>
          <a:p>
            <a:pPr>
              <a:defRPr sz="1500">
                <a:solidFill>
                  <a:srgbClr val="000000"/>
                </a:solidFill>
              </a:defRPr>
            </a:pPr>
            <a:r>
              <a:rPr sz="1600"/>
              <a:t>→ Time Analysis: Daily, monthly, yearly trends; seasonal patterns</a:t>
            </a:r>
            <a:endParaRPr sz="1600"/>
          </a:p>
          <a:p>
            <a:pPr>
              <a:defRPr sz="1500">
                <a:solidFill>
                  <a:srgbClr val="000000"/>
                </a:solidFill>
              </a:defRPr>
            </a:pPr>
            <a:r>
              <a:rPr sz="1600"/>
              <a:t>→ Geographic Analysis: State-level and area-level AQI metrics</a:t>
            </a:r>
            <a:endParaRPr sz="1600"/>
          </a:p>
          <a:p>
            <a:pPr>
              <a:defRPr sz="1500">
                <a:solidFill>
                  <a:srgbClr val="000000"/>
                </a:solidFill>
              </a:defRPr>
            </a:pPr>
            <a:r>
              <a:rPr sz="1600"/>
              <a:t>→ Risk Assessment: Hotspot identification, monitoring gaps, opportunities</a:t>
            </a:r>
            <a:endParaRPr sz="16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F4E78"/>
                </a:solidFill>
              </a:defRPr>
            </a:pPr>
            <a:r>
              <a:t>Key Performance Indicators (KPIs)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34440"/>
            <a:ext cx="8229600" cy="0"/>
          </a:xfrm>
          <a:prstGeom prst="rect">
            <a:avLst/>
          </a:prstGeom>
          <a:ln w="38100">
            <a:solidFill>
              <a:srgbClr val="1F4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914400" y="1828800"/>
          <a:ext cx="731520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  <a:gridCol w="1828800"/>
              </a:tblGrid>
              <a:tr h="304800">
                <a:tc>
                  <a:txBody>
                    <a:bodyPr/>
                    <a:lstStyle/>
                    <a:p>
                      <a:pPr>
                        <a:defRPr sz="1400" b="1"/>
                      </a:pPr>
                      <a:r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1"/>
                      </a:pPr>
                      <a:r>
                        <a:t>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1"/>
                      </a:pPr>
                      <a:r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1"/>
                      </a:pPr>
                      <a:r>
                        <a:t>Value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Avg AQI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111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States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32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Max AQI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Observations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235,785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F4E78"/>
                </a:solidFill>
              </a:defRPr>
            </a:pPr>
            <a:r>
              <a:t>AQI Trend Analysis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34440"/>
            <a:ext cx="8229600" cy="0"/>
          </a:xfrm>
          <a:prstGeom prst="rect">
            <a:avLst/>
          </a:prstGeom>
          <a:ln w="38100">
            <a:solidFill>
              <a:srgbClr val="1F4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645920"/>
            <a:ext cx="82296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F4E78"/>
                </a:solidFill>
              </a:defRPr>
            </a:pPr>
            <a:r>
              <a:t>State &amp; Area Analysis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34440"/>
            <a:ext cx="8229600" cy="0"/>
          </a:xfrm>
          <a:prstGeom prst="rect">
            <a:avLst/>
          </a:prstGeom>
          <a:ln w="38100">
            <a:solidFill>
              <a:srgbClr val="1F4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645920"/>
            <a:ext cx="82296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F4E78"/>
                </a:solidFill>
              </a:defRPr>
            </a:pPr>
            <a:r>
              <a:t>Pollutant Analysis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34440"/>
            <a:ext cx="8229600" cy="0"/>
          </a:xfrm>
          <a:prstGeom prst="rect">
            <a:avLst/>
          </a:prstGeom>
          <a:ln w="38100">
            <a:solidFill>
              <a:srgbClr val="1F4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645920"/>
            <a:ext cx="82296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F4E78"/>
                </a:solidFill>
              </a:defRPr>
            </a:pPr>
            <a:r>
              <a:t>Risk &amp; Opportunity Analysis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34440"/>
            <a:ext cx="8229600" cy="0"/>
          </a:xfrm>
          <a:prstGeom prst="rect">
            <a:avLst/>
          </a:prstGeom>
          <a:ln w="38100">
            <a:solidFill>
              <a:srgbClr val="1F4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8229600" cy="26460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F4E78"/>
                </a:solidFill>
              </a:defRPr>
            </a:pPr>
            <a:r>
              <a:rPr sz="1800"/>
              <a:t>RISKS:</a:t>
            </a:r>
            <a:endParaRPr sz="1800"/>
          </a:p>
          <a:p>
            <a:pPr>
              <a:defRPr sz="1500">
                <a:solidFill>
                  <a:srgbClr val="000000"/>
                </a:solidFill>
              </a:defRPr>
            </a:pPr>
            <a:r>
              <a:rPr sz="1600"/>
              <a:t>• High-AQI states with persistent poor air quality (health impact)</a:t>
            </a:r>
            <a:endParaRPr sz="1600"/>
          </a:p>
          <a:p>
            <a:pPr>
              <a:defRPr sz="1500">
                <a:solidFill>
                  <a:srgbClr val="000000"/>
                </a:solidFill>
              </a:defRPr>
            </a:pPr>
            <a:r>
              <a:rPr sz="1600"/>
              <a:t>• Undermonitored areas limiting early-warning capability</a:t>
            </a:r>
            <a:endParaRPr sz="1600"/>
          </a:p>
          <a:p>
            <a:pPr>
              <a:defRPr sz="1500">
                <a:solidFill>
                  <a:srgbClr val="000000"/>
                </a:solidFill>
              </a:defRPr>
            </a:pPr>
            <a:r>
              <a:rPr sz="1600"/>
              <a:t>• Seasonal peaks requiring proactive management</a:t>
            </a:r>
            <a:endParaRPr sz="1600"/>
          </a:p>
          <a:p>
            <a:pPr>
              <a:defRPr sz="1600">
                <a:solidFill>
                  <a:srgbClr val="000000"/>
                </a:solidFill>
              </a:defRPr>
            </a:pPr>
            <a:endParaRPr sz="1800"/>
          </a:p>
          <a:p>
            <a:pPr>
              <a:defRPr sz="1600" b="1">
                <a:solidFill>
                  <a:srgbClr val="1F4E78"/>
                </a:solidFill>
              </a:defRPr>
            </a:pPr>
            <a:r>
              <a:rPr sz="1800"/>
              <a:t>OPPORTUNITIES:</a:t>
            </a:r>
            <a:endParaRPr sz="1800"/>
          </a:p>
          <a:p>
            <a:pPr>
              <a:defRPr sz="1500">
                <a:solidFill>
                  <a:srgbClr val="000000"/>
                </a:solidFill>
              </a:defRPr>
            </a:pPr>
            <a:r>
              <a:rPr sz="1600"/>
              <a:t>• Expand monitoring infrastructure in identified gaps</a:t>
            </a:r>
            <a:endParaRPr sz="1600"/>
          </a:p>
          <a:p>
            <a:pPr>
              <a:defRPr sz="1500">
                <a:solidFill>
                  <a:srgbClr val="000000"/>
                </a:solidFill>
              </a:defRPr>
            </a:pPr>
            <a:r>
              <a:rPr sz="1600"/>
              <a:t>• Implement targeted interventions in moderate-AQI areas</a:t>
            </a:r>
            <a:endParaRPr sz="1600"/>
          </a:p>
          <a:p>
            <a:pPr>
              <a:defRPr sz="1500">
                <a:solidFill>
                  <a:srgbClr val="000000"/>
                </a:solidFill>
              </a:defRPr>
            </a:pPr>
            <a:r>
              <a:rPr sz="1600"/>
              <a:t>• Leverage seasonal forecasting for preparedness</a:t>
            </a:r>
            <a:endParaRPr sz="1600"/>
          </a:p>
          <a:p>
            <a:pPr>
              <a:defRPr sz="1500">
                <a:solidFill>
                  <a:srgbClr val="000000"/>
                </a:solidFill>
              </a:defRPr>
            </a:pPr>
            <a:r>
              <a:rPr sz="1600"/>
              <a:t>• Scale successful practices from improving states</a:t>
            </a:r>
            <a:endParaRPr sz="16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F4E78"/>
                </a:solidFill>
              </a:defRPr>
            </a:pPr>
            <a:r>
              <a:t>Key Insights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34440"/>
            <a:ext cx="8229600" cy="0"/>
          </a:xfrm>
          <a:prstGeom prst="rect">
            <a:avLst/>
          </a:prstGeom>
          <a:ln w="38100">
            <a:solidFill>
              <a:srgbClr val="1F4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8229600" cy="13220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000000"/>
                </a:solidFill>
              </a:defRPr>
            </a:pPr>
            <a:r>
              <a:rPr sz="1600"/>
              <a:t>1. OVERALL STATUS: Average AQI of 111 indicates widespread pollution</a:t>
            </a:r>
            <a:endParaRPr sz="1600"/>
          </a:p>
          <a:p>
            <a:pPr>
              <a:defRPr sz="1500">
                <a:solidFill>
                  <a:srgbClr val="000000"/>
                </a:solidFill>
              </a:defRPr>
            </a:pPr>
            <a:r>
              <a:rPr sz="1600"/>
              <a:t>2. STATE DISPARITIES: Significant variation from 47 to 206 across states</a:t>
            </a:r>
            <a:endParaRPr sz="1600"/>
          </a:p>
          <a:p>
            <a:pPr>
              <a:defRPr sz="1500">
                <a:solidFill>
                  <a:srgbClr val="000000"/>
                </a:solidFill>
              </a:defRPr>
            </a:pPr>
            <a:r>
              <a:rPr sz="1600"/>
              <a:t>3. POLLUTANT FOCUS: Specific dominant pollutants require targeted emission controls</a:t>
            </a:r>
            <a:endParaRPr sz="1600"/>
          </a:p>
          <a:p>
            <a:pPr>
              <a:defRPr sz="1500">
                <a:solidFill>
                  <a:srgbClr val="000000"/>
                </a:solidFill>
              </a:defRPr>
            </a:pPr>
            <a:r>
              <a:rPr sz="1600"/>
              <a:t>4. MONITORING GAPS: Uneven station distribution limits early-warning in some regions</a:t>
            </a:r>
            <a:endParaRPr sz="1600"/>
          </a:p>
          <a:p>
            <a:pPr>
              <a:defRPr sz="1500">
                <a:solidFill>
                  <a:srgbClr val="000000"/>
                </a:solidFill>
              </a:defRPr>
            </a:pPr>
            <a:r>
              <a:rPr sz="1600"/>
              <a:t>5. SEASONAL PATTERNS: Predictable seasonal peaks enable proactive intervention</a:t>
            </a:r>
            <a:endParaRPr sz="16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F4E78"/>
                </a:solidFill>
              </a:defRPr>
            </a:pPr>
            <a:r>
              <a:t>Recommended Actions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34440"/>
            <a:ext cx="8229600" cy="0"/>
          </a:xfrm>
          <a:prstGeom prst="rect">
            <a:avLst/>
          </a:prstGeom>
          <a:ln w="38100">
            <a:solidFill>
              <a:srgbClr val="1F4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8229600" cy="1568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000000"/>
                </a:solidFill>
              </a:defRPr>
            </a:pPr>
            <a:r>
              <a:rPr sz="1600"/>
              <a:t>→ Expand real-time monitoring in undermonitored high-AQI areas</a:t>
            </a:r>
            <a:endParaRPr sz="1600"/>
          </a:p>
          <a:p>
            <a:pPr>
              <a:defRPr sz="1500">
                <a:solidFill>
                  <a:srgbClr val="000000"/>
                </a:solidFill>
              </a:defRPr>
            </a:pPr>
            <a:r>
              <a:rPr sz="1600"/>
              <a:t>→ Implement sector-specific emission controls (vehicular, industrial, agricultural)</a:t>
            </a:r>
            <a:endParaRPr sz="1600"/>
          </a:p>
          <a:p>
            <a:pPr>
              <a:defRPr sz="1500">
                <a:solidFill>
                  <a:srgbClr val="000000"/>
                </a:solidFill>
              </a:defRPr>
            </a:pPr>
            <a:r>
              <a:rPr sz="1600"/>
              <a:t>→ Activate seasonal air quality management protocols</a:t>
            </a:r>
            <a:endParaRPr sz="1600"/>
          </a:p>
          <a:p>
            <a:pPr>
              <a:defRPr sz="1500">
                <a:solidFill>
                  <a:srgbClr val="000000"/>
                </a:solidFill>
              </a:defRPr>
            </a:pPr>
            <a:r>
              <a:rPr sz="1600"/>
              <a:t>→ Conduct source apportionment studies for targeted interventions</a:t>
            </a:r>
            <a:endParaRPr sz="1600"/>
          </a:p>
          <a:p>
            <a:pPr>
              <a:defRPr sz="1500">
                <a:solidFill>
                  <a:srgbClr val="000000"/>
                </a:solidFill>
              </a:defRPr>
            </a:pPr>
            <a:r>
              <a:rPr sz="1600"/>
              <a:t>→ Launch public awareness campaigns on AQI levels and health impacts</a:t>
            </a:r>
            <a:endParaRPr sz="1600"/>
          </a:p>
          <a:p>
            <a:pPr>
              <a:defRPr sz="1500">
                <a:solidFill>
                  <a:srgbClr val="000000"/>
                </a:solidFill>
              </a:defRPr>
            </a:pPr>
            <a:r>
              <a:rPr sz="1600"/>
              <a:t>→ Establish inter-state coordination mechanisms for regional strategies</a:t>
            </a:r>
            <a:endParaRPr sz="16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F4E78"/>
                </a:solidFill>
              </a:defRPr>
            </a:pPr>
            <a:r>
              <a:t>Dashboard &amp; Project Output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34440"/>
            <a:ext cx="8229600" cy="0"/>
          </a:xfrm>
          <a:prstGeom prst="rect">
            <a:avLst/>
          </a:prstGeom>
          <a:ln w="38100">
            <a:solidFill>
              <a:srgbClr val="1F4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8229600" cy="2061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8"/>
                </a:solidFill>
              </a:defRPr>
            </a:pPr>
            <a:r>
              <a:rPr sz="1600"/>
              <a:t>INTERACTIVE DASHBOARD (Streamlit):</a:t>
            </a:r>
            <a:endParaRPr sz="1600"/>
          </a:p>
          <a:p>
            <a:pPr>
              <a:defRPr sz="1500">
                <a:solidFill>
                  <a:srgbClr val="000000"/>
                </a:solidFill>
              </a:defRPr>
            </a:pPr>
            <a:r>
              <a:rPr sz="1600"/>
              <a:t>✓ Executive Overview with KPI cards and AQI trends</a:t>
            </a:r>
            <a:endParaRPr sz="1600"/>
          </a:p>
          <a:p>
            <a:pPr>
              <a:defRPr sz="1500">
                <a:solidFill>
                  <a:srgbClr val="000000"/>
                </a:solidFill>
              </a:defRPr>
            </a:pPr>
            <a:r>
              <a:rPr sz="1600"/>
              <a:t>✓ State &amp; Area Analysis with geographic heatmaps</a:t>
            </a:r>
            <a:endParaRPr sz="1600"/>
          </a:p>
          <a:p>
            <a:pPr>
              <a:defRPr sz="1500">
                <a:solidFill>
                  <a:srgbClr val="000000"/>
                </a:solidFill>
              </a:defRPr>
            </a:pPr>
            <a:r>
              <a:rPr sz="1600"/>
              <a:t>✓ Pollutant &amp; Risk Analysis with identification of hotspots</a:t>
            </a:r>
            <a:endParaRPr sz="1600"/>
          </a:p>
          <a:p>
            <a:pPr>
              <a:defRPr sz="1500">
                <a:solidFill>
                  <a:srgbClr val="000000"/>
                </a:solidFill>
              </a:defRPr>
            </a:pPr>
            <a:r>
              <a:rPr sz="1600"/>
              <a:t>✓ Insights &amp; Recommendations section with actionable insights</a:t>
            </a:r>
            <a:endParaRPr sz="1600"/>
          </a:p>
          <a:p>
            <a:pPr>
              <a:defRPr sz="1400">
                <a:solidFill>
                  <a:srgbClr val="000000"/>
                </a:solidFill>
              </a:defRPr>
            </a:pPr>
            <a:endParaRPr sz="1600"/>
          </a:p>
          <a:p>
            <a:pPr>
              <a:defRPr sz="1500">
                <a:solidFill>
                  <a:srgbClr val="000000"/>
                </a:solidFill>
              </a:defRPr>
            </a:pPr>
            <a:r>
              <a:rPr sz="1600"/>
              <a:t>RUN: streamlit run project.py</a:t>
            </a:r>
            <a:endParaRPr sz="1600"/>
          </a:p>
          <a:p>
            <a:pPr>
              <a:defRPr sz="1400">
                <a:solidFill>
                  <a:srgbClr val="000000"/>
                </a:solidFill>
              </a:defRPr>
            </a:pPr>
            <a:r>
              <a:rPr sz="1600"/>
              <a:t>Open: http://localhost:8501 in your browser</a:t>
            </a:r>
            <a:endParaRPr sz="16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F4E78"/>
                </a:solidFill>
              </a:defRPr>
            </a:pPr>
            <a:r>
              <a:t>Project Limitations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34440"/>
            <a:ext cx="8229600" cy="0"/>
          </a:xfrm>
          <a:prstGeom prst="rect">
            <a:avLst/>
          </a:prstGeom>
          <a:ln w="38100">
            <a:solidFill>
              <a:srgbClr val="1F4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8229600" cy="1568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000000"/>
                </a:solidFill>
              </a:defRPr>
            </a:pPr>
            <a:r>
              <a:rPr sz="1600"/>
              <a:t>• Data Gaps: Some areas have incomplete temporal coverage</a:t>
            </a:r>
            <a:endParaRPr sz="1600"/>
          </a:p>
          <a:p>
            <a:pPr>
              <a:defRPr sz="1500">
                <a:solidFill>
                  <a:srgbClr val="000000"/>
                </a:solidFill>
              </a:defRPr>
            </a:pPr>
            <a:r>
              <a:rPr sz="1600"/>
              <a:t>• External Factors: Lacks meteorological data (temperature, wind, humidity)</a:t>
            </a:r>
            <a:endParaRPr sz="1600"/>
          </a:p>
          <a:p>
            <a:pPr>
              <a:defRPr sz="1500">
                <a:solidFill>
                  <a:srgbClr val="000000"/>
                </a:solidFill>
              </a:defRPr>
            </a:pPr>
            <a:r>
              <a:rPr sz="1600"/>
              <a:t>• No Causality: Analysis shows correlations, not direct cause-effect relationships</a:t>
            </a:r>
            <a:endParaRPr sz="1600"/>
          </a:p>
          <a:p>
            <a:pPr>
              <a:defRPr sz="1500">
                <a:solidFill>
                  <a:srgbClr val="000000"/>
                </a:solidFill>
              </a:defRPr>
            </a:pPr>
            <a:r>
              <a:rPr sz="1600"/>
              <a:t>• Geographic Resolution: Area-level aggregation masks micro-level variations</a:t>
            </a:r>
            <a:endParaRPr sz="1600"/>
          </a:p>
          <a:p>
            <a:pPr>
              <a:defRPr sz="1500">
                <a:solidFill>
                  <a:srgbClr val="000000"/>
                </a:solidFill>
              </a:defRPr>
            </a:pPr>
            <a:r>
              <a:rPr sz="1600"/>
              <a:t>• Prediction: Analysis-focused; no predictive model included</a:t>
            </a:r>
            <a:endParaRPr sz="1600"/>
          </a:p>
          <a:p>
            <a:pPr>
              <a:defRPr sz="1500">
                <a:solidFill>
                  <a:srgbClr val="000000"/>
                </a:solidFill>
              </a:defRPr>
            </a:pPr>
            <a:r>
              <a:rPr sz="1600"/>
              <a:t>• Monitoring Variance: Monitoring density varies significantly by state</a:t>
            </a:r>
            <a:endParaRPr sz="16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F4E78"/>
                </a:solidFill>
              </a:defRPr>
            </a:pPr>
            <a:r>
              <a:t>Conclusion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34440"/>
            <a:ext cx="8229600" cy="0"/>
          </a:xfrm>
          <a:prstGeom prst="rect">
            <a:avLst/>
          </a:prstGeom>
          <a:ln w="38100">
            <a:solidFill>
              <a:srgbClr val="1F4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8229600" cy="25533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000000"/>
                </a:solidFill>
              </a:defRPr>
            </a:pPr>
            <a:r>
              <a:rPr sz="1600"/>
              <a:t>This comprehensive analysis of India's air quality (2023-2025) reveals significant challenges requiring urgent action. With an average AQI of 111 and substantial geographic disparities, systematic intervention is essential.</a:t>
            </a:r>
            <a:endParaRPr sz="1600"/>
          </a:p>
          <a:p>
            <a:pPr algn="l">
              <a:defRPr sz="1400">
                <a:solidFill>
                  <a:srgbClr val="000000"/>
                </a:solidFill>
              </a:defRPr>
            </a:pPr>
            <a:endParaRPr sz="1600"/>
          </a:p>
          <a:p>
            <a:pPr algn="l">
              <a:defRPr sz="1400">
                <a:solidFill>
                  <a:srgbClr val="000000"/>
                </a:solidFill>
              </a:defRPr>
            </a:pPr>
            <a:r>
              <a:rPr sz="1600"/>
              <a:t>Key findings identified hotspots, seasonal patterns, and monitoring infrastructure gaps. The interactive dashboard enables ongoing assessment and decision-making.</a:t>
            </a:r>
            <a:endParaRPr sz="1600"/>
          </a:p>
          <a:p>
            <a:pPr algn="l">
              <a:defRPr sz="1400">
                <a:solidFill>
                  <a:srgbClr val="000000"/>
                </a:solidFill>
              </a:defRPr>
            </a:pPr>
            <a:endParaRPr sz="1600"/>
          </a:p>
          <a:p>
            <a:pPr algn="l">
              <a:defRPr sz="1400">
                <a:solidFill>
                  <a:srgbClr val="000000"/>
                </a:solidFill>
              </a:defRPr>
            </a:pPr>
            <a:r>
              <a:rPr sz="1600"/>
              <a:t>Next steps: Implement evidence-based policies, expand monitoring infrastructure, conduct source apportionment studies, and establish regional coordination mechanisms for sustained air quality improvement.</a:t>
            </a:r>
            <a:endParaRPr sz="16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lue Waves">
  <a:themeElements>
    <a:clrScheme name="Blue Waves 13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66CC"/>
      </a:accent1>
      <a:accent2>
        <a:srgbClr val="3399FF"/>
      </a:accent2>
      <a:accent3>
        <a:srgbClr val="FFFFFF"/>
      </a:accent3>
      <a:accent4>
        <a:srgbClr val="000000"/>
      </a:accent4>
      <a:accent5>
        <a:srgbClr val="AAB8E2"/>
      </a:accent5>
      <a:accent6>
        <a:srgbClr val="2D8AE7"/>
      </a:accent6>
      <a:hlink>
        <a:srgbClr val="CC3300"/>
      </a:hlink>
      <a:folHlink>
        <a:srgbClr val="996600"/>
      </a:folHlink>
    </a:clrScheme>
    <a:fontScheme name="Blue Waves">
      <a:majorFont>
        <a:latin typeface="Arial"/>
        <a:ea typeface="SimSun"/>
        <a:cs typeface=""/>
      </a:majorFont>
      <a:minorFont>
        <a:latin typeface="Arial"/>
        <a:ea typeface="SimSu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lnDef>
  </a:objectDefaults>
  <a:extraClrSchemeLst>
    <a:extraClrScheme>
      <a:clrScheme name="Blue Waves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 Waves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 Waves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 Waves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 Waves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 Waves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13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66CC"/>
        </a:accent1>
        <a:accent2>
          <a:srgbClr val="3399FF"/>
        </a:accent2>
        <a:accent3>
          <a:srgbClr val="FFFFFF"/>
        </a:accent3>
        <a:accent4>
          <a:srgbClr val="000000"/>
        </a:accent4>
        <a:accent5>
          <a:srgbClr val="AAB8E2"/>
        </a:accent5>
        <a:accent6>
          <a:srgbClr val="2D8AE7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4406</Words>
  <Application>WPS Presentation</Application>
  <PresentationFormat>On-screen Show (4:3)</PresentationFormat>
  <Paragraphs>129</Paragraphs>
  <Slides>15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3" baseType="lpstr">
      <vt:lpstr>Arial</vt:lpstr>
      <vt:lpstr>SimSun</vt:lpstr>
      <vt:lpstr>Wingdings</vt:lpstr>
      <vt:lpstr>Arial</vt:lpstr>
      <vt:lpstr>Calibri</vt:lpstr>
      <vt:lpstr>Microsoft YaHei</vt:lpstr>
      <vt:lpstr>Arial Unicode MS</vt:lpstr>
      <vt:lpstr>Blue Waves</vt:lpstr>
      <vt:lpstr>India Air Quality Index (AQI) Analysis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virgo</cp:lastModifiedBy>
  <cp:revision>3</cp:revision>
  <dcterms:created xsi:type="dcterms:W3CDTF">2013-01-27T09:14:00Z</dcterms:created>
  <dcterms:modified xsi:type="dcterms:W3CDTF">2026-09-18T11:44:52Z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EADA517DA51A4628B107C017BCA071AD_12</vt:lpwstr>
  </property>
  <property fmtid="{D5CDD505-2E9C-101B-9397-08002B2CF9AE}" pid="3" name="KSOProductBuildVer">
    <vt:lpwstr>2057-12.2.0.23206</vt:lpwstr>
  </property>
</Properties>
</file>